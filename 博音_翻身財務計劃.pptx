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博音 Podcast × Will 黃士豪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從月薪翻身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一個務實的財務計劃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4114800" cy="0"/>
          </a:xfrm>
          <a:prstGeom prst="line">
            <a:avLst/>
          </a:prstGeom>
          <a:noFill/>
          <a:ln w="19050">
            <a:solidFill>
              <a:srgbClr val="E85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如何靠月薪與幾乎為零的存款，打造屬於自己的財富自由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月薪 5 萬 → 財務自由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嘉賓 Will 黃士豪的故事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8503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大學快畢業時，父親因糖尿病惡化、失明、洗腎，喪失工作能力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4996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同時發現家中背負近 3,000 萬負債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1488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三分之一來自地下錢莊，還有親友與銀行借款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7980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討債集團上門追債，人生開局跌入谷底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465576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4472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靠著意志力與財務規劃，逐步翻身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292608" cy="29260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409651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現居新加坡，三個孩子就讀國際學校，實現財富與時間自由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0" y="822960"/>
            <a:ext cx="329184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負債金額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325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萬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548640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新台幣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2468880"/>
            <a:ext cx="2560320" cy="0"/>
          </a:xfrm>
          <a:prstGeom prst="line">
            <a:avLst/>
          </a:prstGeom>
          <a:noFill/>
          <a:ln w="12700">
            <a:solidFill>
              <a:srgbClr val="E85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今日成就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15000" y="3063240"/>
            <a:ext cx="201168" cy="20116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0266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全家移居新加坡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15000" y="3493008"/>
            <a:ext cx="201168" cy="20116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個孩子就讀國際學校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15000" y="3922776"/>
            <a:ext cx="201168" cy="201168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少時間工作，多時間陪家人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如果你的開局沒有比這個更糟，你就贏了。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翻身前，先問自己：什麼叫「夠了」？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5029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金錢的主人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清楚知道「夠了」是多少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錢服務我的生活目標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理財計劃圍繞個人願景展開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不受 IG、臉書廣告影響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消費有意識、有方向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4069080" cy="5029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68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金錢的奴隸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沒有定義「夠」的標準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看到別人有的就想要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606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刷 IG 後覺得自己什麼都不夠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錢越多、焦慮越多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消費是為了補償工作的痛苦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財務目標的兩個維度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財務目標 = 你理想生活的具體數字。先定義生活，再推算數字。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69080" cy="3429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資產型目標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017520" cy="0"/>
          </a:xfrm>
          <a:prstGeom prst="line">
            <a:avLst/>
          </a:prstGeom>
          <a:noFill/>
          <a:ln w="12700">
            <a:solidFill>
              <a:srgbClr val="E85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如同企業的「資產負債表」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我擁有哪些資產？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73152" cy="21945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75304"/>
            <a:ext cx="73152" cy="21945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73152" cy="21945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58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投資組合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73152" cy="21945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其他有形資產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4069080" cy="34290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417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54880" y="19202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開銷型目標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57800" y="2423160"/>
            <a:ext cx="3017520" cy="0"/>
          </a:xfrm>
          <a:prstGeom prst="line">
            <a:avLst/>
          </a:prstGeom>
          <a:noFill/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如同企業的「損益表」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我理想生活每月需多少？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246120"/>
            <a:ext cx="73152" cy="21945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飲食、服裝、旅行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3575304"/>
            <a:ext cx="73152" cy="21945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陪孩子、健身的時間成本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904488"/>
            <a:ext cx="73152" cy="21945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858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興趣與社會貢獻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4233672"/>
            <a:ext cx="73152" cy="21945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不需看價格的自在感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四桶金策略：建立穩固的財務架構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1956816" cy="37033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22960"/>
            <a:ext cx="1956816" cy="91440"/>
          </a:xfrm>
          <a:prstGeom prst="rect">
            <a:avLst/>
          </a:prstGeom>
          <a:solidFill>
            <a:srgbClr val="5EC47A"/>
          </a:solidFill>
          <a:ln w="12700">
            <a:solidFill>
              <a:srgbClr val="5EC4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601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" y="146304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保障型基金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" y="192024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基礎保險 + 緊急備用金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395728"/>
            <a:ext cx="1591056" cy="0"/>
          </a:xfrm>
          <a:prstGeom prst="line">
            <a:avLst/>
          </a:prstGeom>
          <a:noFill/>
          <a:ln w="9525">
            <a:solidFill>
              <a:srgbClr val="5EC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51460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6～12 個月的生活開銷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放在銀行，隨時可用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股市下行時的護城河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2304" y="822960"/>
            <a:ext cx="1956816" cy="3703320"/>
          </a:xfrm>
          <a:prstGeom prst="rect">
            <a:avLst/>
          </a:prstGeom>
          <a:solidFill>
            <a:srgbClr val="1C5A8A"/>
          </a:solidFill>
          <a:ln w="12700">
            <a:solidFill>
              <a:srgbClr val="1C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822960"/>
            <a:ext cx="1956816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9601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32304" y="146304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防守型資產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2304" y="192024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9F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穩定、低波動的資產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15184" y="2395728"/>
            <a:ext cx="1591056" cy="0"/>
          </a:xfrm>
          <a:prstGeom prst="line">
            <a:avLst/>
          </a:prstGeom>
          <a:noFill/>
          <a:ln w="9525">
            <a:solidFill>
              <a:srgbClr val="4A9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251460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政府公債、高股息股票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提供穩定現金流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保障生活品質不中斷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1956816" cy="370332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22960"/>
            <a:ext cx="1956816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9601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146304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進攻型資產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追求成長報酬率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395728"/>
            <a:ext cx="1591056" cy="0"/>
          </a:xfrm>
          <a:prstGeom prst="line">
            <a:avLst/>
          </a:prstGeom>
          <a:noFill/>
          <a:ln w="9525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1460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年化目標 15～20%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個股、ETF 組合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依財務目標決定比例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94576" y="822960"/>
            <a:ext cx="1956816" cy="3703320"/>
          </a:xfrm>
          <a:prstGeom prst="rect">
            <a:avLst/>
          </a:prstGeom>
          <a:solidFill>
            <a:srgbClr val="8A3020"/>
          </a:solidFill>
          <a:ln w="12700">
            <a:solidFill>
              <a:srgbClr val="8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822960"/>
            <a:ext cx="1956816" cy="914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9601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94576" y="146304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樂透型部位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94576" y="192024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A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高風險、高潛力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77456" y="2395728"/>
            <a:ext cx="1591056" cy="0"/>
          </a:xfrm>
          <a:prstGeom prst="line">
            <a:avLst/>
          </a:prstGeom>
          <a:noFill/>
          <a:ln w="9525">
            <a:solidFill>
              <a:srgbClr val="E85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51460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佔總資產 10～15%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山寨幣、轉機股等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輸光也不影響大局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" y="4663440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重要：開始投資前，必須先建立第一桶金（緊急備用金）！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複利的威力：報酬率比本薪更關鍵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每月投入 NT$3,000，投資 30 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246120"/>
          </a:xfrm>
          <a:prstGeom prst="rect">
            <a:avLst/>
          </a:prstGeom>
          <a:solidFill>
            <a:srgbClr val="252545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0050 定期定額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年化 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A9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萬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有差，但難以「翻身」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4023360" cy="10515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844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巴菲特建議的被動指數投資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適合保守穩健的投資人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023360" cy="3246120"/>
          </a:xfrm>
          <a:prstGeom prst="rect">
            <a:avLst/>
          </a:prstGeom>
          <a:solidFill>
            <a:srgbClr val="2A1A0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17320"/>
            <a:ext cx="402336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學好投資 / 精選標的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年化 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22860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萬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80060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有感翻身，進入八位數世界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520440"/>
            <a:ext cx="4023360" cy="1051560"/>
          </a:xfrm>
          <a:prstGeom prst="rect">
            <a:avLst/>
          </a:prstGeom>
          <a:solidFill>
            <a:srgbClr val="1F1408"/>
          </a:solidFill>
          <a:ln w="12700">
            <a:solidFill>
              <a:srgbClr val="1F14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5844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學習投資技能比加薪更划算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報酬率差距比本薪差距影響更大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7764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差距 3.75 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B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結論：時間是最重要的，其次是報酬率——不是本薪的高低。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打破本薪天花板：主動收入的兩種路徑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傳統加薪有上限；以「價值導向」創造的收入，沒有上限。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069080" cy="7315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99032"/>
            <a:ext cx="1005840" cy="475488"/>
          </a:xfrm>
          <a:prstGeom prst="rect">
            <a:avLst/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99032"/>
            <a:ext cx="1005840" cy="475488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4173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解決少數人的大問題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專業顧問、企業教練、外科手術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醫師、律師、頂尖講師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657600" cy="0"/>
          </a:xfrm>
          <a:prstGeom prst="line">
            <a:avLst/>
          </a:prstGeom>
          <a:noFill/>
          <a:ln w="9525">
            <a:solidFill>
              <a:srgbClr val="E8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關鍵：你對問題的理解深度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決定你的開價能力。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例：Will 的財務教育課程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幫助 13 萬付費學員解決財務焦慮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3749040" cy="685800"/>
          </a:xfrm>
          <a:prstGeom prst="rect">
            <a:avLst/>
          </a:prstGeom>
          <a:solidFill>
            <a:srgbClr val="FFF5F4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507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由你開價，收入沒有天花板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99032"/>
            <a:ext cx="1005840" cy="475488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990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4173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解決大量人的小問題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069080" cy="73152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創作者、播客主、線上課程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7A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演出、軟體工具、媒體平台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560320"/>
            <a:ext cx="3657600" cy="0"/>
          </a:xfrm>
          <a:prstGeom prst="line">
            <a:avLst/>
          </a:prstGeom>
          <a:noFill/>
          <a:ln w="9525">
            <a:solidFill>
              <a:srgbClr val="E8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關鍵：接觸的人越多，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規模效益越大。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例：博恩的巡演、Podcast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每多一個觀眾，邊際成本趨近於零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977640"/>
            <a:ext cx="3749040" cy="6858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0507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觸及無上限，收入理論上無上限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槓桿的正確用法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「只要不斷頭，貸好貸滿。」— Will 黃士豪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60520" cy="3337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160520" cy="731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月付額 ≤ 盈餘的一半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794760" cy="0"/>
          </a:xfrm>
          <a:prstGeom prst="line">
            <a:avLst/>
          </a:prstGeom>
          <a:noFill/>
          <a:ln w="9525">
            <a:solidFill>
              <a:srgbClr val="4A9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月收入 NT$100,000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正常開銷 NT$50,000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盈餘 NT$50,000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每月還款金額不得超過 NT$25,000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3840480" cy="6400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9F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確保即使遇到突發狀況，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9F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仍有現金流維持生活。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4160520" cy="333756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63040"/>
            <a:ext cx="4160520" cy="73152"/>
          </a:xfrm>
          <a:prstGeom prst="rect">
            <a:avLst/>
          </a:prstGeom>
          <a:solidFill>
            <a:srgbClr val="5EC47A"/>
          </a:solidFill>
          <a:ln w="12700">
            <a:solidFill>
              <a:srgbClr val="5EC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緊急備用金 ≥ 12 個月開銷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3794760" cy="0"/>
          </a:xfrm>
          <a:prstGeom prst="line">
            <a:avLst/>
          </a:prstGeom>
          <a:noFill/>
          <a:ln w="9525">
            <a:solidFill>
              <a:srgbClr val="5EC4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54203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含貸款後的月支出 NT$75,000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12 個月 = NT$900,000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帳上至少需保有此金額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4069080"/>
            <a:ext cx="3840480" cy="6400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這是防止被迫在最低點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EC4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斷頭賣出資產的最後防線。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警告：槓桿是雙面刃 — 上漲放大收益，下跌同樣放大損失。標的選擇是最大的風控。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買房 vs 租房：用正確框架做決定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069080" cy="53035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自住  =  消費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00584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頭期款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481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NT$5,000萬 × 30% = NT$1,500萬 一次支出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00584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月供壓力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21284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每月可能超過 NT$10萬 遠高於租金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00584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機會成本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944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省下NT$1,480萬投資 年化8% = 每月幾十萬收益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00584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675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目前台灣五都自住：租 &gt; 買 划算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04672"/>
            <a:ext cx="4069080" cy="530352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  =  看租金報酬率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92040" y="1463040"/>
            <a:ext cx="100584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正確觀念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481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房地產合理投資報酬來自租金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不是價差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194560"/>
            <a:ext cx="100584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篩選標準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221284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租金報酬率是否符合我的財務目標？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有符合才投，沒有就不投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926080"/>
            <a:ext cx="100584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新加坡模式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9443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政府在豪宅旁建公宅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解決居住正義問題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657600"/>
            <a:ext cx="1005840" cy="4572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36758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只追求價差 → 必然造成居住正義問題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你在哪個階段？生存 vs 發展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大多數人的焦慮，其實不在「生存」，而是在「發展」階段擔心生存的事。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069080" cy="3566160"/>
          </a:xfrm>
          <a:prstGeom prst="rect">
            <a:avLst/>
          </a:prstGeom>
          <a:solidFill>
            <a:srgbClr val="3D1010"/>
          </a:solidFill>
          <a:ln w="19050">
            <a:solidFill>
              <a:srgbClr val="E85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069080" cy="59436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生存階段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這個月帳單付不出來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孩子的學費交不出來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下個月的餐費不知在哪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649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這時候焦慮是合理的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全力專注在「如何活下去」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793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先從儲蓄 1~2% 開始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069080" cy="3566160"/>
          </a:xfrm>
          <a:prstGeom prst="rect">
            <a:avLst/>
          </a:prstGeom>
          <a:solidFill>
            <a:srgbClr val="0D2A1A"/>
          </a:solidFill>
          <a:ln w="19050">
            <a:solidFill>
              <a:srgbClr val="5EC4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4069080" cy="59436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80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發展階段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9933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可以看 Netflix、喝咖啡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505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生活不到「沒飯吃」的地步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907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但仍焦慮：iPhone、車子、房子…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649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這種焦慮跟錢多少無關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8221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焦慮的底層是恐懼、貪婪、比較、急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42793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聚焦在「如何發展」，不是生存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月薪五萬的翻身行動計劃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31520" cy="73152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0" cy="512064"/>
          </a:xfrm>
          <a:prstGeom prst="line">
            <a:avLst/>
          </a:prstGeom>
          <a:noFill/>
          <a:ln w="25400">
            <a:solidFill>
              <a:srgbClr val="E85A4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43000" y="868680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868680"/>
            <a:ext cx="73152" cy="12344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932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161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提高儲蓄率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960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找到舒適的生活水準，不強迫勒緊褲帶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從 5~10% 開始儲蓄，逐步提高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避免報復性消費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98448" y="1618488"/>
            <a:ext cx="7296912" cy="0"/>
          </a:xfrm>
          <a:prstGeom prst="line">
            <a:avLst/>
          </a:prstGeom>
          <a:noFill/>
          <a:ln w="6350">
            <a:solidFill>
              <a:srgbClr val="E8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6916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目標：找到「我可以快樂活進月薪」的比例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731520" cy="7315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95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0" cy="512064"/>
          </a:xfrm>
          <a:prstGeom prst="line">
            <a:avLst/>
          </a:prstGeom>
          <a:noFill/>
          <a:ln w="25400">
            <a:solidFill>
              <a:srgbClr val="E8B84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43000" y="225856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2258568"/>
            <a:ext cx="73152" cy="1234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25511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建立緊急備用金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35000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目標：6～12 個月生活開銷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放在銀行，不要投資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達標前，不要急著進股市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98448" y="3008376"/>
            <a:ext cx="7296912" cy="0"/>
          </a:xfrm>
          <a:prstGeom prst="line">
            <a:avLst/>
          </a:prstGeom>
          <a:noFill/>
          <a:ln w="6350">
            <a:solidFill>
              <a:srgbClr val="E8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08152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這是你最重要的護城河，沒有它就沒有安全感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785616"/>
            <a:ext cx="731520" cy="731520"/>
          </a:xfrm>
          <a:prstGeom prst="ellipse">
            <a:avLst/>
          </a:prstGeom>
          <a:solidFill>
            <a:srgbClr val="5EC47A"/>
          </a:solidFill>
          <a:ln w="12700">
            <a:solidFill>
              <a:srgbClr val="5EC4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856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143000" y="3648456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43000" y="3648456"/>
            <a:ext cx="73152" cy="1234440"/>
          </a:xfrm>
          <a:prstGeom prst="rect">
            <a:avLst/>
          </a:prstGeom>
          <a:solidFill>
            <a:srgbClr val="5EC47A"/>
          </a:solidFill>
          <a:ln w="12700">
            <a:solidFill>
              <a:srgbClr val="5EC4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98448" y="39410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自動化分流 → 開始投資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63440" y="373989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設定薪資自動轉帳分流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開銷帳戶 / 備用金帳戶 / 資產帳戶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備用金存滿後，剩餘全進投資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98448" y="4398264"/>
            <a:ext cx="7296912" cy="0"/>
          </a:xfrm>
          <a:prstGeom prst="line">
            <a:avLst/>
          </a:prstGeom>
          <a:noFill/>
          <a:ln w="6350">
            <a:solidFill>
              <a:srgbClr val="E8E6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44714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不依靠意志力，系統自動執行，越簡單越好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From Money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真正的自由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11480" y="1938528"/>
            <a:ext cx="4114800" cy="0"/>
          </a:xfrm>
          <a:prstGeom prst="line">
            <a:avLst/>
          </a:prstGeom>
          <a:noFill/>
          <a:ln w="19050">
            <a:solidFill>
              <a:srgbClr val="E85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084832"/>
            <a:ext cx="54864" cy="2743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574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不是「有錢了才自由」，而是有錢沒錢都自在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96896"/>
            <a:ext cx="54864" cy="2743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94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知道自己的「夠了」在哪裡，就是金錢的主人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54864" cy="2743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815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讓錢服務你的生活，而不是你服務於錢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621024"/>
            <a:ext cx="54864" cy="2743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935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停下來，自己定義什麼是你的幸福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133088"/>
            <a:ext cx="54864" cy="27432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0565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找到退休後也想繼續做的事，收入就沒有上限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solidFill>
            <a:srgbClr val="151E40"/>
          </a:solidFill>
          <a:ln w="12700">
            <a:solidFill>
              <a:srgbClr val="151E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「最大的自由，是可以停下來，自己定義什麼叫自己的幸福。」— Will 黃士豪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從月薪翻身：一個務實的財務計劃</dc:title>
  <dc:subject>PptxGenJS Presentation</dc:subject>
  <dc:creator>Will 黃士豪 × 博音</dc:creator>
  <cp:lastModifiedBy>Will 黃士豪 × 博音</cp:lastModifiedBy>
  <cp:revision>1</cp:revision>
  <dcterms:created xsi:type="dcterms:W3CDTF">2026-03-22T16:59:10Z</dcterms:created>
  <dcterms:modified xsi:type="dcterms:W3CDTF">2026-03-22T16:59:10Z</dcterms:modified>
</cp:coreProperties>
</file>